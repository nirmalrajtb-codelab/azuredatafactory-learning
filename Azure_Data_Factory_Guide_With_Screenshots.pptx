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2412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0078D4"/>
                </a:solidFill>
                <a:latin typeface="Aptos"/>
              </a:defRPr>
            </a:pPr>
            <a:r>
              <a:t>AZURE DATA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400" b="1">
                <a:solidFill>
                  <a:srgbClr val="143154"/>
                </a:solidFill>
                <a:latin typeface="Aptos"/>
              </a:defRPr>
            </a:pPr>
            <a:r>
              <a:t>Screenshots &amp; Practical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8755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0">
                <a:solidFill>
                  <a:srgbClr val="5F6C78"/>
                </a:solidFill>
                <a:latin typeface="Aptos"/>
              </a:defRPr>
            </a:pPr>
            <a:r>
              <a:t>A visual walkthrough of setup, authoring, monitoring, management, security, and linked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9601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5F6C78"/>
                </a:solidFill>
                <a:latin typeface="Aptos"/>
              </a:defRPr>
            </a:pPr>
            <a:r>
              <a:t>29 annotated screenshots • Key concepts • Practical use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463040"/>
            <a:ext cx="75438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55480" y="2103120"/>
            <a:ext cx="1097280" cy="731520"/>
          </a:xfrm>
          <a:prstGeom prst="roundRect">
            <a:avLst/>
          </a:prstGeom>
          <a:solidFill>
            <a:srgbClr val="00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78440" y="1417320"/>
            <a:ext cx="891540" cy="594360"/>
          </a:xfrm>
          <a:prstGeom prst="round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0" y="3063240"/>
            <a:ext cx="617220" cy="4114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87000" y="2743200"/>
            <a:ext cx="754380" cy="502920"/>
          </a:xfrm>
          <a:prstGeom prst="roundRect">
            <a:avLst/>
          </a:prstGeom>
          <a:solidFill>
            <a:srgbClr val="00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143154"/>
                </a:solidFill>
                <a:latin typeface="Aptos"/>
              </a:defRPr>
            </a:pPr>
            <a:r>
              <a:t>How to use this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5F6C78"/>
                </a:solidFill>
                <a:latin typeface="Aptos"/>
              </a:defRPr>
            </a:pPr>
            <a:r>
              <a:t>Each section pairs the original Azure portal screenshot with a short explanation and a real-world use case.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4924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93852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92024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3154"/>
                </a:solidFill>
                <a:latin typeface="Aptos"/>
              </a:defRPr>
            </a:pPr>
            <a:r>
              <a:t>Create &amp; configure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304288"/>
            <a:ext cx="42976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F6C78"/>
                </a:solidFill>
                <a:latin typeface="Aptos"/>
              </a:defRPr>
            </a:pPr>
            <a:r>
              <a:t>Basics, Git, networking, encryption, tags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534924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93852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2024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3154"/>
                </a:solidFill>
                <a:latin typeface="Aptos"/>
              </a:defRPr>
            </a:pPr>
            <a:r>
              <a:t>Author &amp;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04288"/>
            <a:ext cx="42976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F6C78"/>
                </a:solidFill>
                <a:latin typeface="Aptos"/>
              </a:defRPr>
            </a:pPr>
            <a:r>
              <a:t>Workspace, pipelines, datasets, data flows, Power 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534924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26440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24612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3154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630168"/>
            <a:ext cx="42976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F6C78"/>
                </a:solidFill>
                <a:latin typeface="Aptos"/>
              </a:defRPr>
            </a:pPr>
            <a:r>
              <a:t>Pipeline runs, trigger runs, runtimes, debug,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154680"/>
            <a:ext cx="534924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326440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4612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3154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630168"/>
            <a:ext cx="42976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F6C78"/>
                </a:solidFill>
                <a:latin typeface="Aptos"/>
              </a:defRPr>
            </a:pPr>
            <a:r>
              <a:t>Linked services, settings, Purview, Git, ARM templates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80560"/>
            <a:ext cx="534924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59028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457200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3154"/>
                </a:solidFill>
                <a:latin typeface="Aptos"/>
              </a:defRPr>
            </a:pPr>
            <a:r>
              <a:t>Security &amp; reuse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956048"/>
            <a:ext cx="42976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F6C78"/>
                </a:solidFill>
                <a:latin typeface="Aptos"/>
              </a:defRPr>
            </a:pPr>
            <a:r>
              <a:t>Triggers, parameters, libraries, credentials, keys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480560"/>
            <a:ext cx="534924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459028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0078D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57200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1">
                <a:solidFill>
                  <a:srgbClr val="143154"/>
                </a:solidFill>
                <a:latin typeface="Aptos"/>
              </a:defRPr>
            </a:pPr>
            <a:r>
              <a:t>Connect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956048"/>
            <a:ext cx="42976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F6C78"/>
                </a:solidFill>
                <a:latin typeface="Aptos"/>
              </a:defRPr>
            </a:pPr>
            <a:r>
              <a:t>Integration runtime setup and ADLS Gen2 linked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8076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5F6C78"/>
                </a:solidFill>
                <a:latin typeface="Aptos"/>
              </a:defRPr>
            </a:pPr>
            <a:r>
              <a:t>Tip: “0 items” or “No results” usually means no matching runs/resources are listed—not automatically that the service is broken.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Create Data Factory – Basics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282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504311"/>
            <a:ext cx="6309360" cy="4041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Create the Azure Data Factory resource that will host your data integration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2860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Subscription: Azure account that manages resources and billing.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Resource group: Container for related Azure resources.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Name: Unique name for the Data Factory.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Region: Azure location where the resource is deployed.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Version: V2 is the Data Factory generation shown.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Create a factory as the starting point for pipelines that move sales data from databases and files into a central data lake.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Git Configuration During Creation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28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809892"/>
            <a:ext cx="6309359" cy="3430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Choose whether to configure source control while creating the factory.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Azure DevOps or GitHub can store pipeline definitions and track changes.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Configure Git later lets you skip repository setup during creation.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Git is useful for collaboration, review, and version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A developer commits a pipeline change to Git so teammates can review it before publishing.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291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23" y="1170431"/>
            <a:ext cx="5961504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Control how Azure Data Factory connects to services and data 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Managed Virtual Network can provide network isolation for supported connections.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Public endpoint: connect through a public service endpoint.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Private endpoint: use private IP connectivity where supported.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Choose connectivity based on security and network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A company processing sensitive data may use private connectivity to reduce exposure to the public internet.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Advanced – Encryption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300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31456"/>
            <a:ext cx="6309360" cy="29871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Choose encryption-key management for the Data Factory.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Microsoft-managed keys are the default and are managed by Azure.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Customer-managed keys (CMK) can be configured through Azure Key Vault.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CMK offers more control over key access and rotation but requires extra setup.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A regulated organization manages encryption keys to align with its security and compliance policies.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Tags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304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856058"/>
            <a:ext cx="6309360" cy="3337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Tags are name/value pairs that help organize Azure resources and report costs.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Example: createdBy = Mr.K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Example: environment = Development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Example: department = DataEngineering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Use consistent tags to identify ownership and group resources.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A team reviews resource ownership and spending by department or environment.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Data Factory Workspace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312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5" y="2467883"/>
            <a:ext cx="6309360" cy="2114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The main workspace is where you author, manage, and monitor data integration.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2860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Author: create pipelines, datasets, linked services, and data flows.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Monitor: inspect pipeline runs, failures, and duration.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Manage: configure connections, runtimes, triggers, and security.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Learning Center: tutorials, videos, and templates.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Ingest, orchestrate, transform, and run SSIS packages from the workspace.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Automate sales-data ingestion, transform it, and load it for analytics and Power BI reporting.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New Menu – Create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344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1170432"/>
            <a:ext cx="4343400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Orchestrates activities into a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Power Query: low-code data preparation.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Data flow: visual transformations such as joins, filters, and aggregates.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Dataset: describes the location and format of data used by activities.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Build a pipeline that copies a CSV file, transforms records, and loads the results into a warehouse.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Factory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352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843" y="1170432"/>
            <a:ext cx="4488664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Factory Resources lists the main building blocks used to author data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2860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Pipelines: coordinate and execute activities.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Datasets: describe source or destination data.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Data flows: visually transform data.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Power Query: prepare data with a low-code experience.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Change Data Capture (preview): support processing data changes where configured.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Create source/destination datasets, use a pipeline for orchestration, and add transformations when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Monitor – Pipeline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363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472647"/>
            <a:ext cx="6309360" cy="21047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View executions of pipelines and investigate their outcomes.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Check pipeline name, start/end time, duration, trigger, status, and errors.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Use filters to find a run by name, status, or time range.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Rerun a pipeline after investigating and fixing a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SCREENSHOT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The page shows 0 items. No runs match the current filters/time range; it does not necessarily mean there is an 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Monitor – Trigger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372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530864"/>
            <a:ext cx="6309359" cy="19882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Inspect executions of triggers that start pipelines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Schedule: start at a specified time or recurring interval.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Tumbling window: process fixed, continuous time windows.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Storage events: start when a storage event occurs.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Custom events: start when a matching event is received.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SCREENSHOT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0 items are shown for the selected time range and filters. Create and activate a trigger before expecting runs.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Monitor – Integration Runtimes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382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473452"/>
            <a:ext cx="630936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Check the integration runtime available to execute supported data integration activities.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The screenshot shows AutoResolveIntegrationRuntime.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Type: Azure; subtype: Public; status: Running; region: Auto Resolve.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The Azure runtime provides compute for supported data movement and activities.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Copy data from Azure SQL Database to Azure Data Lake Storage using an Azure Integration Runtime.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Monitor – Data Flow Debug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39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115414"/>
            <a:ext cx="6309360" cy="2819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Test and troubleshoot mapping data flows interactively before production execution.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Debug sessions use compute from an integration runtime.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Session details can include timeout, cores, compute type, and last activity.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Refresh the list or cancel a selected active session.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SCREENSHOT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No active debug sessions are listed in the screenshot.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Monitor – Alerts &amp;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394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951374"/>
            <a:ext cx="6309359" cy="31472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Review supported monitoring metrics and configure alerts for selected conditions.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Metrics: inspect available monitoring measurements.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New alert rule: define a condition and configure notifications.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Alerts can help teams notice failures or unusual behavior quickly.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Create an alert for a supported pipeline-monitoring condition so the support team can investigate promptly.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Manage – Linked Services (Empty)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01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31214"/>
            <a:ext cx="6309360" cy="2987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A linked service defines connection information for a data store or compute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Create a connection for each required source or destination.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Examples include Azure SQL Database, Blob Storage, and Data Lake Storage.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Use the connection in pipeline activities or datasets.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SCREENSHOT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No linked services are configured yet. Create the required connections before using them in a pipeline.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Manage – Factory Settings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04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29" y="1170432"/>
            <a:ext cx="5926493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Factory-level settings include the billing-report view shown in this screenshot.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By pipeline: view billing information grouped by pipeline where supported.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By factory: view billing information for the overall Data Factory.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Use the view that best supports your cost investigation.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Compare pipeline-level costs to identify which workflows contribute most to overall usage.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Manage – Linked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12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08747"/>
            <a:ext cx="6309360" cy="30325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Create and manage the connections used by your factory.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New: add a linked service.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Filter by name: find an existing connection.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Related resources and annotations help organize connections.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Create one linked service for Azure SQL Database and another for Data Lake Storage, then use both in a Copy Data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Manage – Integration Runtimes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14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47777"/>
            <a:ext cx="6309360" cy="29544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Configure the compute and connectivity infrastructure for data integration.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Azure: Azure-managed runtime for supported activities.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Self-hosted: access on-premises or private-network data sources.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Azure-SSIS: run supported SSIS packages in Azure.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SCREENSHOT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AutoResolveIntegrationRuntime is shown as Running, with Type Azure and Region Auto Resolve.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Manage – Microsoft Purview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21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946218"/>
            <a:ext cx="6309360" cy="3157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Connect Data Factory to Microsoft Purview for data discovery and governance capabilities.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Data registration: register data sources/assets.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Data discovery: search for relevant data assets.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Data exploration: examine assets and relationships.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Lineage and governance depend on configured sources and supported integrations.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Find the origin of a customer dataset and understand related data assets across 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Manage – Git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24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929412"/>
            <a:ext cx="6309360" cy="3191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Connect the authoring workspace to a Git repository for source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Configure: connect to a repository.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Edit: change repository settings.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Overwrite live mode: replace live resources with content from the collaboration branch.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Disconnect: remove the connection; Import resources can bring resources into the workspace.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SCREENSHOT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No Git repository is configured in this screenshot.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Manage – ARM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34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965684"/>
            <a:ext cx="6309360" cy="31186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Export and deploy Data Factory configuration using Azure Resource Manager (ARM) templates.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Export ARM template: package supported factory resources as JSON template artifacts.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Import ARM template: apply a template to create or update resources.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Parameter configuration controls which properties are parameterized.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Global-parameter template option is marked deprecated in the screenshot.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Promote factory configuration from Development to Test and Production with repeatable deployments.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Manage – Triggers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45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40456"/>
            <a:ext cx="6309359" cy="29691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Define when a pipeline should 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Schedule trigger: run at a time or recurring interval.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Tumbling window: run over fixed time windows.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Storage event: start when a matching storage event occurs.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A trigger must be configured and activated to start pipeline 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SCREENSHOT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No triggers have been created in this factory yet.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Manage – Global Parameters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51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709731"/>
            <a:ext cx="6309360" cy="363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Global parameters are reusable factory-level values available to pipeline expressions.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Create a parameter with a name, type, and value.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Example: storageFolder (String) = salesdata.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Reference the shared value from multiple pipelines instead of repeating literals.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Change a common folder value in one place instead of editing several pipelines.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Manage – Data Flow Libraries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53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102360"/>
            <a:ext cx="6309360" cy="28453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Data flow libraries contain reusable custom functions for mapping data 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New: create a library; Import: bring in an existing library.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Reuse repeated transformation logic where supported.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This can reduce duplicated expressions and help standardize transformations.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Reuse a custom function that standardizes customer names across multiple data 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Manage – Credentials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55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32933"/>
            <a:ext cx="6309360" cy="29841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Credentials provide identity information for authentication in supported linked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Supported options can include managed identities and service principals.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Grant only the permissions required by the target service.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Avoid embedding secrets directly in pipeline definitions.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SCREENSHOT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No credentials are listed in the screenshot.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Manage – Customer-Managed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61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759822"/>
            <a:ext cx="6309360" cy="35303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Configure a customer-managed encryption key for the Data Factory where supported.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Keys are typically stored and managed through Azure Key Vault.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CMK provides more control over key access and rotation.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It requires correct key permissions and additional administration.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SCREENSHOT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No customer-managed key is configured in the screenshot.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Learning Center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63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5" y="2047012"/>
            <a:ext cx="6309360" cy="29559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Use built-in learning resources to learn and practice Azure Data Factory.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2860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Quick Start: introductory steps.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Tutorials: guided exercises.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Videos: visual demonstrations.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Template Gallery: starting points for common workflows.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Monthly updates: learn about new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Follow a tutorial to build a pipeline that copies data from Azure SQL Database to Data Lake Storage.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Create Integration Runtime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490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084312"/>
            <a:ext cx="6309360" cy="28813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AZURE, SELF-HOSTED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Use a self-hosted runtime for connectivity to on-premises or private-network data sources and supported activities.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Install/configure the runtime on a server that can reach the source.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Azure-SSIS: provision runtime infrastructure to run supported SSIS packages in Azure.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Choose based on source location and workload.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Copy data from an on-premises SQL Server to Azure Data Lake Storage, or lift-and-shift existing SSIS packages to Azure.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New Linked Service – Connector Gallery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50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950453"/>
            <a:ext cx="6309360" cy="31491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Select a connector for the data store, application, or compute service you want to connect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0574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Browse tabs such as Azure, Database, File, NoSQL, and Services and apps.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Examples shown: FTP, File system, GitHub, BigQuery, Google Cloud Storage, and Google Sheets (Preview).</a:t>
            </a:r>
          </a:p>
          <a:p>
            <a:pPr>
              <a:spcAft>
                <a:spcPts val="7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t>Connector availability and authentication options vary by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Choose the source and destination connectors needed for a copy pipeline.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11556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Linked Service – Azure Data Lake Storage Gen2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87552"/>
            <a:ext cx="6629400" cy="507492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(20261029-02513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47" y="1170432"/>
            <a:ext cx="4457657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9480" y="987552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78D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98448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143154"/>
                </a:solidFill>
                <a:latin typeface="Aptos"/>
              </a:defRPr>
            </a:pPr>
            <a:r>
              <a:t>Configure the connection from ADF to an Azure Data Lake Storage Gen2 account.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066543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0099A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340864"/>
            <a:ext cx="4553712" cy="2286000"/>
          </a:xfrm>
          <a:prstGeom prst="rect">
            <a:avLst/>
          </a:prstGeom>
          <a:noFill/>
        </p:spPr>
        <p:txBody>
          <a:bodyPr wrap="square" lIns="54864" rIns="27432" t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Name: identify the connection, e.g. AzureDataLakeStorage1.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Integration Runtime: select the runtime used for connectivity.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Authentication: Account key is selected in this screenshot.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Select the subscription/account or enter details manually.</a:t>
            </a:r>
          </a:p>
          <a:p>
            <a:pPr>
              <a:spcAft>
                <a:spcPts val="700"/>
              </a:spcAft>
              <a:defRPr sz="1300">
                <a:solidFill>
                  <a:srgbClr val="263238"/>
                </a:solidFill>
                <a:latin typeface="Aptos"/>
              </a:defRPr>
            </a:pPr>
            <a:r>
              <a:t>Test connection to verify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4828032"/>
            <a:ext cx="4553712" cy="1115568"/>
          </a:xfrm>
          <a:prstGeom prst="roundRect">
            <a:avLst/>
          </a:prstGeom>
          <a:solidFill>
            <a:srgbClr val="F2F7FC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4919472"/>
            <a:ext cx="4160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0078D4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5166360"/>
            <a:ext cx="41605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Connect ADF to a storage account so a pipeline can read or write CSV, JSON, or Parquet files. For production, consider managed identity where supported.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9601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5F6C78"/>
                </a:solidFill>
                <a:latin typeface="Aptos"/>
              </a:defRPr>
            </a:pPr>
            <a:r>
              <a:t>Azure Data Factory • Visual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5F6C78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